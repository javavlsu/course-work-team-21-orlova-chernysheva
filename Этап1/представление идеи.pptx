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9" r:id="rId3"/>
    <p:sldId id="258" r:id="rId4"/>
    <p:sldId id="257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79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9" d="100"/>
          <a:sy n="89" d="100"/>
        </p:scale>
        <p:origin x="360" y="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3DF8-3927-4339-B3A6-78E9286079B1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5343E-D20F-4A24-A6F3-C12246B133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5136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3DF8-3927-4339-B3A6-78E9286079B1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5343E-D20F-4A24-A6F3-C12246B133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0615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3DF8-3927-4339-B3A6-78E9286079B1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5343E-D20F-4A24-A6F3-C12246B133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7747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3DF8-3927-4339-B3A6-78E9286079B1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5343E-D20F-4A24-A6F3-C12246B133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3493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3DF8-3927-4339-B3A6-78E9286079B1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5343E-D20F-4A24-A6F3-C12246B133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465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3DF8-3927-4339-B3A6-78E9286079B1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5343E-D20F-4A24-A6F3-C12246B133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3574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3DF8-3927-4339-B3A6-78E9286079B1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5343E-D20F-4A24-A6F3-C12246B133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2358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3DF8-3927-4339-B3A6-78E9286079B1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5343E-D20F-4A24-A6F3-C12246B133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018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3DF8-3927-4339-B3A6-78E9286079B1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5343E-D20F-4A24-A6F3-C12246B133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6487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3DF8-3927-4339-B3A6-78E9286079B1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5343E-D20F-4A24-A6F3-C12246B133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5348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3DF8-3927-4339-B3A6-78E9286079B1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5343E-D20F-4A24-A6F3-C12246B133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610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43DF8-3927-4339-B3A6-78E9286079B1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35343E-D20F-4A24-A6F3-C12246B133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6793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Relationship Id="rId9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8BD8DE-58BE-4A89-ADDD-122E7F16A76E}"/>
              </a:ext>
            </a:extLst>
          </p:cNvPr>
          <p:cNvSpPr txBox="1"/>
          <p:nvPr/>
        </p:nvSpPr>
        <p:spPr>
          <a:xfrm>
            <a:off x="5651137" y="1626442"/>
            <a:ext cx="5322291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600" dirty="0">
                <a:solidFill>
                  <a:srgbClr val="E8793E"/>
                </a:solidFill>
                <a:latin typeface="Ubuntu Medium" panose="020B060403060203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Аукцион</a:t>
            </a:r>
          </a:p>
          <a:p>
            <a:r>
              <a:rPr lang="ru-RU" sz="9600" dirty="0">
                <a:solidFill>
                  <a:srgbClr val="E8793E"/>
                </a:solidFill>
                <a:latin typeface="Ubuntu Medium" panose="020B060403060203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картин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F0024F-8E5D-46E8-AEC7-33D263DBBAE7}"/>
              </a:ext>
            </a:extLst>
          </p:cNvPr>
          <p:cNvSpPr txBox="1"/>
          <p:nvPr/>
        </p:nvSpPr>
        <p:spPr>
          <a:xfrm>
            <a:off x="7622622" y="1474984"/>
            <a:ext cx="43163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dirty="0">
                <a:latin typeface="Ubuntu Medium" panose="020B0604030602030204" pitchFamily="34" charset="0"/>
                <a:cs typeface="Italic" panose="00000400000000000000" pitchFamily="2" charset="0"/>
              </a:rPr>
              <a:t>«Коллекционеры — счастливые люди» — Иоганн Гёте.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CB96E57-15B1-4C40-A214-B32FDAA5FFE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52"/>
          <a:stretch/>
        </p:blipFill>
        <p:spPr>
          <a:xfrm>
            <a:off x="0" y="0"/>
            <a:ext cx="5515431" cy="6858000"/>
          </a:xfrm>
          <a:prstGeom prst="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E106D8D-39CB-471C-8ABD-6931E2886438}"/>
              </a:ext>
            </a:extLst>
          </p:cNvPr>
          <p:cNvSpPr txBox="1"/>
          <p:nvPr/>
        </p:nvSpPr>
        <p:spPr>
          <a:xfrm>
            <a:off x="5651137" y="5466080"/>
            <a:ext cx="5859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>
                <a:solidFill>
                  <a:schemeClr val="bg2">
                    <a:lumMod val="50000"/>
                  </a:schemeClr>
                </a:solidFill>
                <a:latin typeface="Ubuntu Medium" panose="020B0604030602030204" pitchFamily="34" charset="0"/>
              </a:rPr>
              <a:t>Разрабатывают: Орлова Арина, Чернышева Алина</a:t>
            </a:r>
          </a:p>
        </p:txBody>
      </p:sp>
    </p:spTree>
    <p:extLst>
      <p:ext uri="{BB962C8B-B14F-4D97-AF65-F5344CB8AC3E}">
        <p14:creationId xmlns:p14="http://schemas.microsoft.com/office/powerpoint/2010/main" val="4063323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27BAF3-9AB4-4C29-8F55-9B8B0F7A0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18" y="1530657"/>
            <a:ext cx="3811437" cy="3540005"/>
          </a:xfrm>
        </p:spPr>
        <p:txBody>
          <a:bodyPr>
            <a:noAutofit/>
          </a:bodyPr>
          <a:lstStyle/>
          <a:p>
            <a:r>
              <a:rPr lang="ru-RU" sz="6600" dirty="0">
                <a:solidFill>
                  <a:srgbClr val="E8793E"/>
                </a:solidFill>
                <a:latin typeface="Ubuntu Medium" panose="020B060403060203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Что такое</a:t>
            </a:r>
            <a:br>
              <a:rPr lang="ru-RU" sz="6600" dirty="0">
                <a:solidFill>
                  <a:srgbClr val="E8793E"/>
                </a:solidFill>
                <a:latin typeface="Ubuntu Medium" panose="020B060403060203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6600" dirty="0">
                <a:solidFill>
                  <a:srgbClr val="E8793E"/>
                </a:solidFill>
                <a:latin typeface="Ubuntu Medium" panose="020B060403060203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аукцион картин?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DB29E5-61D2-4FDA-A7B2-9DD01E03A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5116" y="1026930"/>
            <a:ext cx="8249266" cy="190026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dirty="0">
                <a:latin typeface="Ubuntu Medium" panose="020B0604030602030204" pitchFamily="34" charset="0"/>
                <a:cs typeface="Italic" panose="00000400000000000000" pitchFamily="2" charset="0"/>
              </a:rPr>
              <a:t>Аукцион искусства (Art </a:t>
            </a:r>
            <a:r>
              <a:rPr lang="ru-RU" dirty="0" err="1">
                <a:latin typeface="Ubuntu Medium" panose="020B0604030602030204" pitchFamily="34" charset="0"/>
                <a:cs typeface="Italic" panose="00000400000000000000" pitchFamily="2" charset="0"/>
              </a:rPr>
              <a:t>Auction</a:t>
            </a:r>
            <a:r>
              <a:rPr lang="ru-RU" dirty="0">
                <a:latin typeface="Ubuntu Medium" panose="020B0604030602030204" pitchFamily="34" charset="0"/>
                <a:cs typeface="Italic" panose="00000400000000000000" pitchFamily="2" charset="0"/>
              </a:rPr>
              <a:t>) — это публичная продажа произведений искусства по принципу соперничества между покупателями</a:t>
            </a:r>
            <a:r>
              <a:rPr lang="en-US" dirty="0">
                <a:latin typeface="Ubuntu Medium" panose="020B0604030602030204" pitchFamily="34" charset="0"/>
                <a:cs typeface="Italic" panose="00000400000000000000" pitchFamily="2" charset="0"/>
              </a:rPr>
              <a:t>.</a:t>
            </a:r>
            <a:endParaRPr lang="ru-RU" dirty="0">
              <a:latin typeface="Ubuntu Medium" panose="020B0604030602030204" pitchFamily="34" charset="0"/>
              <a:cs typeface="Italic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8AAC3D-B053-4C99-8281-F56B224FCE95}"/>
              </a:ext>
            </a:extLst>
          </p:cNvPr>
          <p:cNvSpPr txBox="1"/>
          <p:nvPr/>
        </p:nvSpPr>
        <p:spPr>
          <a:xfrm>
            <a:off x="3691456" y="3543064"/>
            <a:ext cx="753559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90000"/>
              </a:lnSpc>
              <a:spcBef>
                <a:spcPts val="1000"/>
              </a:spcBef>
            </a:pPr>
            <a:r>
              <a:rPr lang="ru-RU" sz="2800" dirty="0">
                <a:latin typeface="Ubuntu Medium" panose="020B0604030602030204" pitchFamily="34" charset="0"/>
              </a:rPr>
              <a:t>Выбору темы нам поспособствовали убеждения в том, что полученная в ходе разработки информационная система  может действительно использоваться галереями и коллекционерами.</a:t>
            </a:r>
          </a:p>
        </p:txBody>
      </p:sp>
    </p:spTree>
    <p:extLst>
      <p:ext uri="{BB962C8B-B14F-4D97-AF65-F5344CB8AC3E}">
        <p14:creationId xmlns:p14="http://schemas.microsoft.com/office/powerpoint/2010/main" val="1763345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C0DE0A-C104-4B20-B422-354FC9C6F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0631" y="1136769"/>
            <a:ext cx="6551369" cy="1325563"/>
          </a:xfrm>
        </p:spPr>
        <p:txBody>
          <a:bodyPr>
            <a:noAutofit/>
          </a:bodyPr>
          <a:lstStyle/>
          <a:p>
            <a:r>
              <a:rPr lang="ru-RU" sz="6600" dirty="0">
                <a:solidFill>
                  <a:srgbClr val="E8793E"/>
                </a:solidFill>
                <a:latin typeface="Ubuntu Medium" panose="020B060403060203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C88F9E-750C-454D-92E1-E2472869D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529" y="2665532"/>
            <a:ext cx="9954204" cy="263432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dirty="0">
                <a:latin typeface="Ubuntu Medium" panose="020B0604030602030204" pitchFamily="34" charset="0"/>
              </a:rPr>
              <a:t>В эпоху искусственного интеллекта, когда информационные технологии проникают во все сферы жизни, живопись теряет часть своей значимости.</a:t>
            </a:r>
          </a:p>
          <a:p>
            <a:pPr marL="0" indent="0" algn="just">
              <a:buNone/>
            </a:pPr>
            <a:r>
              <a:rPr lang="ru-RU" dirty="0">
                <a:latin typeface="Ubuntu Medium" panose="020B0604030602030204" pitchFamily="34" charset="0"/>
              </a:rPr>
              <a:t>Информационная система для Аукциона картин становится актуальной, так как она объединяет современный цифровой формат и культурное наследие.</a:t>
            </a:r>
          </a:p>
        </p:txBody>
      </p:sp>
    </p:spTree>
    <p:extLst>
      <p:ext uri="{BB962C8B-B14F-4D97-AF65-F5344CB8AC3E}">
        <p14:creationId xmlns:p14="http://schemas.microsoft.com/office/powerpoint/2010/main" val="188239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9FF081-674E-4978-8125-A3A0C4951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944" y="1656382"/>
            <a:ext cx="4743092" cy="3102693"/>
          </a:xfrm>
        </p:spPr>
        <p:txBody>
          <a:bodyPr>
            <a:noAutofit/>
          </a:bodyPr>
          <a:lstStyle/>
          <a:p>
            <a:r>
              <a:rPr lang="ru-RU" sz="7200" dirty="0">
                <a:solidFill>
                  <a:srgbClr val="E8793E"/>
                </a:solidFill>
                <a:latin typeface="Ubuntu Medium" panose="020B060403060203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Цели </a:t>
            </a:r>
            <a:br>
              <a:rPr lang="ru-RU" sz="7200" dirty="0">
                <a:solidFill>
                  <a:srgbClr val="E8793E"/>
                </a:solidFill>
                <a:latin typeface="Ubuntu Medium" panose="020B060403060203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7200" dirty="0">
                <a:solidFill>
                  <a:srgbClr val="E8793E"/>
                </a:solidFill>
                <a:latin typeface="Ubuntu Medium" panose="020B060403060203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задачи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4AEA73-7068-4D6C-939E-12A143952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8560" y="1107591"/>
            <a:ext cx="6898640" cy="4642818"/>
          </a:xfrm>
        </p:spPr>
        <p:txBody>
          <a:bodyPr>
            <a:noAutofit/>
          </a:bodyPr>
          <a:lstStyle/>
          <a:p>
            <a:pPr algn="just"/>
            <a:r>
              <a:rPr lang="ru-RU" i="1" dirty="0">
                <a:latin typeface="Ubuntu Medium" panose="020B0604030602030204" pitchFamily="34" charset="0"/>
              </a:rPr>
              <a:t>Обеспечить удобную площадку для продажи картин.</a:t>
            </a:r>
          </a:p>
          <a:p>
            <a:pPr algn="just"/>
            <a:r>
              <a:rPr lang="ru-RU" i="1" dirty="0">
                <a:latin typeface="Ubuntu Medium" panose="020B0604030602030204" pitchFamily="34" charset="0"/>
              </a:rPr>
              <a:t>Поддержка четырех основных ролей: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i="1" dirty="0">
                <a:latin typeface="Ubuntu Medium" panose="020B0604030602030204" pitchFamily="34" charset="0"/>
                <a:cs typeface="Italic" panose="00000400000000000000" pitchFamily="2" charset="0"/>
              </a:rPr>
              <a:t>Аукционист – ведет торг, контролирует процесс;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i="1" dirty="0">
                <a:latin typeface="Ubuntu Medium" panose="020B0604030602030204" pitchFamily="34" charset="0"/>
                <a:cs typeface="Italic" panose="00000400000000000000" pitchFamily="2" charset="0"/>
              </a:rPr>
              <a:t>Продавец (владелец коллекции) – выставляет картины на продажу;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i="1" dirty="0">
                <a:latin typeface="Ubuntu Medium" panose="020B0604030602030204" pitchFamily="34" charset="0"/>
                <a:cs typeface="Italic" panose="00000400000000000000" pitchFamily="2" charset="0"/>
              </a:rPr>
              <a:t>Участники торгов – делают ставки (участвуют в аукционе)</a:t>
            </a:r>
            <a:r>
              <a:rPr lang="en-US" i="1" dirty="0">
                <a:latin typeface="Ubuntu Medium" panose="020B0604030602030204" pitchFamily="34" charset="0"/>
                <a:cs typeface="Italic" panose="00000400000000000000" pitchFamily="2" charset="0"/>
              </a:rPr>
              <a:t>;</a:t>
            </a:r>
            <a:endParaRPr lang="ru-RU" i="1" dirty="0">
              <a:latin typeface="Ubuntu Medium" panose="020B0604030602030204" pitchFamily="34" charset="0"/>
              <a:cs typeface="Italic" panose="00000400000000000000" pitchFamily="2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i="1" dirty="0">
                <a:latin typeface="Ubuntu Medium" panose="020B0604030602030204" pitchFamily="34" charset="0"/>
              </a:rPr>
              <a:t>Посетители сайта могут просматривать коллекцию и текущие ставки</a:t>
            </a:r>
            <a:r>
              <a:rPr lang="en-US" i="1" dirty="0">
                <a:latin typeface="Ubuntu Medium" panose="020B0604030602030204" pitchFamily="34" charset="0"/>
              </a:rPr>
              <a:t>.</a:t>
            </a:r>
            <a:endParaRPr lang="ru-RU" i="1" dirty="0">
              <a:latin typeface="Ubuntu Medium" panose="020B06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888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AE42AA86-B787-4D92-9496-BAD525115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276" y="3622558"/>
            <a:ext cx="1932599" cy="1743607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B1A1C47F-CD51-4965-8133-A4BD00888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726" y="274231"/>
            <a:ext cx="1932599" cy="1743607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8D43886B-923E-40F6-BD65-5A90F3E46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115" y="3822765"/>
            <a:ext cx="1932599" cy="1743607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F26A38A9-C55A-48AB-B743-DDBC6C561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8588" y="3171283"/>
            <a:ext cx="1932599" cy="1743607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16D9728C-0FDC-4BE0-A045-BED510B0A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6387" y="1111649"/>
            <a:ext cx="1932599" cy="1743607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1520D642-C78C-4DE0-A6D3-FADD8C509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244" y="206029"/>
            <a:ext cx="1932599" cy="1743607"/>
          </a:xfrm>
          <a:prstGeom prst="rect">
            <a:avLst/>
          </a:prstGeom>
        </p:spPr>
      </p:pic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53A55C7D-4034-47FA-BD79-91A6CD00CAB9}"/>
              </a:ext>
            </a:extLst>
          </p:cNvPr>
          <p:cNvSpPr/>
          <p:nvPr/>
        </p:nvSpPr>
        <p:spPr>
          <a:xfrm>
            <a:off x="807305" y="2147225"/>
            <a:ext cx="1785668" cy="1637257"/>
          </a:xfrm>
          <a:custGeom>
            <a:avLst/>
            <a:gdLst>
              <a:gd name="connsiteX0" fmla="*/ 0 w 1785668"/>
              <a:gd name="connsiteY0" fmla="*/ 0 h 1637257"/>
              <a:gd name="connsiteX1" fmla="*/ 1785668 w 1785668"/>
              <a:gd name="connsiteY1" fmla="*/ 0 h 1637257"/>
              <a:gd name="connsiteX2" fmla="*/ 1785668 w 1785668"/>
              <a:gd name="connsiteY2" fmla="*/ 1637257 h 1637257"/>
              <a:gd name="connsiteX3" fmla="*/ 0 w 1785668"/>
              <a:gd name="connsiteY3" fmla="*/ 1637257 h 1637257"/>
              <a:gd name="connsiteX4" fmla="*/ 0 w 1785668"/>
              <a:gd name="connsiteY4" fmla="*/ 0 h 1637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85668" h="1637257" fill="none" extrusionOk="0">
                <a:moveTo>
                  <a:pt x="0" y="0"/>
                </a:moveTo>
                <a:cubicBezTo>
                  <a:pt x="203965" y="-150683"/>
                  <a:pt x="1041191" y="129778"/>
                  <a:pt x="1785668" y="0"/>
                </a:cubicBezTo>
                <a:cubicBezTo>
                  <a:pt x="1913321" y="801375"/>
                  <a:pt x="1903568" y="1276544"/>
                  <a:pt x="1785668" y="1637257"/>
                </a:cubicBezTo>
                <a:cubicBezTo>
                  <a:pt x="1523884" y="1644521"/>
                  <a:pt x="879801" y="1719713"/>
                  <a:pt x="0" y="1637257"/>
                </a:cubicBezTo>
                <a:cubicBezTo>
                  <a:pt x="20672" y="1256544"/>
                  <a:pt x="46638" y="395590"/>
                  <a:pt x="0" y="0"/>
                </a:cubicBezTo>
                <a:close/>
              </a:path>
              <a:path w="1785668" h="1637257" stroke="0" extrusionOk="0">
                <a:moveTo>
                  <a:pt x="0" y="0"/>
                </a:moveTo>
                <a:cubicBezTo>
                  <a:pt x="744603" y="-32091"/>
                  <a:pt x="1291414" y="30718"/>
                  <a:pt x="1785668" y="0"/>
                </a:cubicBezTo>
                <a:cubicBezTo>
                  <a:pt x="1881109" y="756567"/>
                  <a:pt x="1884059" y="962513"/>
                  <a:pt x="1785668" y="1637257"/>
                </a:cubicBezTo>
                <a:cubicBezTo>
                  <a:pt x="1197550" y="1694780"/>
                  <a:pt x="441503" y="1555293"/>
                  <a:pt x="0" y="1637257"/>
                </a:cubicBezTo>
                <a:cubicBezTo>
                  <a:pt x="-126333" y="1099625"/>
                  <a:pt x="76202" y="358219"/>
                  <a:pt x="0" y="0"/>
                </a:cubicBezTo>
                <a:close/>
              </a:path>
            </a:pathLst>
          </a:custGeom>
          <a:solidFill>
            <a:srgbClr val="E8793E"/>
          </a:solidFill>
          <a:ln>
            <a:solidFill>
              <a:srgbClr val="E8793E"/>
            </a:solidFill>
            <a:extLst>
              <a:ext uri="{C807C97D-BFC1-408E-A445-0C87EB9F89A2}">
                <ask:lineSketchStyleProps xmlns:ask="http://schemas.microsoft.com/office/drawing/2018/sketchyshapes" sd="2341414179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3BE980D8-813F-4EC0-8F8E-513E767938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3192" y="881453"/>
            <a:ext cx="2631737" cy="3947606"/>
          </a:xfrm>
          <a:prstGeom prst="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softEdge rad="112500"/>
          </a:effec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9F0658E-1F7A-41A6-A17A-AC2C88D235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165" y="1265569"/>
            <a:ext cx="2737250" cy="3429000"/>
          </a:xfrm>
          <a:prstGeom prst="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softEdge rad="112500"/>
          </a:effec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5466CF4-276F-4AEE-97C0-2D63ADE128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349" y="215660"/>
            <a:ext cx="2495182" cy="2518913"/>
          </a:xfrm>
          <a:prstGeom prst="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softEdge rad="112500"/>
          </a:effectLst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342F594-1313-44C6-B330-2F50F66DAE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6114" y="2884996"/>
            <a:ext cx="3246573" cy="3303917"/>
          </a:xfrm>
          <a:prstGeom prst="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softEdge rad="112500"/>
          </a:effec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9D6716-A3C8-4364-96C0-062B83BE2F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8989" y="2363637"/>
            <a:ext cx="2130725" cy="2130725"/>
          </a:xfrm>
          <a:prstGeom prst="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softEdge rad="112500"/>
          </a:effec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C1B9068-BA71-4ADA-9BB2-570DB410426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1208" y="578138"/>
            <a:ext cx="3304996" cy="2604638"/>
          </a:xfrm>
          <a:prstGeom prst="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softEdge rad="112500"/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F23E1FB-A809-48A6-B2B8-0ECDA2351887}"/>
              </a:ext>
            </a:extLst>
          </p:cNvPr>
          <p:cNvSpPr txBox="1"/>
          <p:nvPr/>
        </p:nvSpPr>
        <p:spPr>
          <a:xfrm>
            <a:off x="120008" y="5141409"/>
            <a:ext cx="81724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dirty="0">
                <a:solidFill>
                  <a:srgbClr val="E8793E"/>
                </a:solidFill>
                <a:latin typeface="Ubuntu Medium" panose="020B060403060203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Спасибо за внимание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DE23619D-E764-4E0F-A31B-63EC63A2154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3061" y="0"/>
            <a:ext cx="2806835" cy="4225507"/>
          </a:xfrm>
          <a:prstGeom prst="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62866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</TotalTime>
  <Words>164</Words>
  <Application>Microsoft Office PowerPoint</Application>
  <PresentationFormat>Широкоэкранный</PresentationFormat>
  <Paragraphs>18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Courier New</vt:lpstr>
      <vt:lpstr>Ubuntu Medium</vt:lpstr>
      <vt:lpstr>Office Theme</vt:lpstr>
      <vt:lpstr>Презентация PowerPoint</vt:lpstr>
      <vt:lpstr>Что такое аукцион картин?</vt:lpstr>
      <vt:lpstr>Актуальность</vt:lpstr>
      <vt:lpstr>Цели  и задачи проекта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Арина Орлова</dc:creator>
  <cp:lastModifiedBy>Арина Орлова</cp:lastModifiedBy>
  <cp:revision>12</cp:revision>
  <dcterms:created xsi:type="dcterms:W3CDTF">2025-09-22T16:19:28Z</dcterms:created>
  <dcterms:modified xsi:type="dcterms:W3CDTF">2025-09-22T17:51:20Z</dcterms:modified>
</cp:coreProperties>
</file>